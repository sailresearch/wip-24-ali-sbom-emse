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</p:sldIdLst>
  <p:sldSz cx="6840538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94"/>
  </p:normalViewPr>
  <p:slideViewPr>
    <p:cSldViewPr snapToGrid="0">
      <p:cViewPr varScale="1">
        <p:scale>
          <a:sx n="140" d="100"/>
          <a:sy n="140" d="100"/>
        </p:scale>
        <p:origin x="23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067" y="530264"/>
            <a:ext cx="5130404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1701796"/>
            <a:ext cx="5130404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2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4" y="807773"/>
            <a:ext cx="5899964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4" y="2168309"/>
            <a:ext cx="5899964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3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7" y="862523"/>
            <a:ext cx="2907229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2" y="862523"/>
            <a:ext cx="2907229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16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172505"/>
            <a:ext cx="5899964" cy="62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8" y="794272"/>
            <a:ext cx="2893868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8" y="1183532"/>
            <a:ext cx="2893868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2" y="794272"/>
            <a:ext cx="2908120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2" y="1183532"/>
            <a:ext cx="2908120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0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1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59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216006"/>
            <a:ext cx="2206251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466513"/>
            <a:ext cx="3463022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972026"/>
            <a:ext cx="2206251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5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216006"/>
            <a:ext cx="2206251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466513"/>
            <a:ext cx="3463022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972026"/>
            <a:ext cx="2206251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6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5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0" y="172505"/>
            <a:ext cx="1474991" cy="2745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7" y="172505"/>
            <a:ext cx="4339466" cy="2745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8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172505"/>
            <a:ext cx="5899964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862523"/>
            <a:ext cx="5899964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7" y="3003082"/>
            <a:ext cx="153912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3003082"/>
            <a:ext cx="2308682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0" y="3003082"/>
            <a:ext cx="153912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6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79EB21CF-05E8-836C-B27C-7B1862FED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3" y="1079267"/>
            <a:ext cx="927510" cy="25180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5B750B6-3655-36A6-B459-195E3E18B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23" y="1422789"/>
            <a:ext cx="963624" cy="1595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B678F8A-A2C4-C964-5048-5D8709B1F9A8}"/>
              </a:ext>
            </a:extLst>
          </p:cNvPr>
          <p:cNvSpPr/>
          <p:nvPr/>
        </p:nvSpPr>
        <p:spPr>
          <a:xfrm>
            <a:off x="37247" y="681950"/>
            <a:ext cx="1084851" cy="1199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52AE7-36DA-4AF1-6C49-5E882983B968}"/>
              </a:ext>
            </a:extLst>
          </p:cNvPr>
          <p:cNvSpPr txBox="1"/>
          <p:nvPr/>
        </p:nvSpPr>
        <p:spPr>
          <a:xfrm>
            <a:off x="0" y="729557"/>
            <a:ext cx="12982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SBOM Tool Center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14E2C-8840-164F-2DC3-9F5009F76D18}"/>
              </a:ext>
            </a:extLst>
          </p:cNvPr>
          <p:cNvSpPr txBox="1"/>
          <p:nvPr/>
        </p:nvSpPr>
        <p:spPr>
          <a:xfrm>
            <a:off x="1257074" y="810548"/>
            <a:ext cx="891397" cy="2462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OSS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80F37-265A-CA6F-BCD8-B3DEDADB26A7}"/>
              </a:ext>
            </a:extLst>
          </p:cNvPr>
          <p:cNvSpPr txBox="1"/>
          <p:nvPr/>
        </p:nvSpPr>
        <p:spPr>
          <a:xfrm>
            <a:off x="1257074" y="1083647"/>
            <a:ext cx="891397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Proprietary Tools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85A33-B136-1238-A255-27FE28D9201E}"/>
              </a:ext>
            </a:extLst>
          </p:cNvPr>
          <p:cNvSpPr txBox="1"/>
          <p:nvPr/>
        </p:nvSpPr>
        <p:spPr>
          <a:xfrm>
            <a:off x="2382457" y="830632"/>
            <a:ext cx="891397" cy="7078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OSS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</a:t>
            </a:r>
            <a:r>
              <a:rPr lang="en-C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OSS Tools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9D33AA-62E7-D1DA-A61D-37B8D73D2632}"/>
              </a:ext>
            </a:extLst>
          </p:cNvPr>
          <p:cNvSpPr txBox="1"/>
          <p:nvPr/>
        </p:nvSpPr>
        <p:spPr>
          <a:xfrm>
            <a:off x="3500449" y="958250"/>
            <a:ext cx="891397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in </a:t>
            </a:r>
            <a:r>
              <a:rPr lang="en-C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OSS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1DEA7D-A5D4-DD03-2ACD-24DAEF8F24A0}"/>
              </a:ext>
            </a:extLst>
          </p:cNvPr>
          <p:cNvSpPr txBox="1"/>
          <p:nvPr/>
        </p:nvSpPr>
        <p:spPr>
          <a:xfrm>
            <a:off x="5653388" y="1353774"/>
            <a:ext cx="1126259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C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OSS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Projects that use OSS Tools</a:t>
            </a:r>
          </a:p>
        </p:txBody>
      </p:sp>
      <p:pic>
        <p:nvPicPr>
          <p:cNvPr id="1026" name="Picture 2" descr="GitHub Logo and symbol, meaning, history, PNG, brand">
            <a:extLst>
              <a:ext uri="{FF2B5EF4-FFF2-40B4-BE49-F238E27FC236}">
                <a16:creationId xmlns:a16="http://schemas.microsoft.com/office/drawing/2014/main" id="{02FFCC81-BFBA-8FDF-679C-E29B47749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975" y="819964"/>
            <a:ext cx="553995" cy="311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E2139C3-D013-E31A-FFA4-1D31FAE56FD2}"/>
              </a:ext>
            </a:extLst>
          </p:cNvPr>
          <p:cNvSpPr txBox="1"/>
          <p:nvPr/>
        </p:nvSpPr>
        <p:spPr>
          <a:xfrm>
            <a:off x="4596781" y="958250"/>
            <a:ext cx="942718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usage Code-patterns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775F916F-7D37-BEFA-A41C-9C6DC7179BD6}"/>
              </a:ext>
            </a:extLst>
          </p:cNvPr>
          <p:cNvCxnSpPr>
            <a:cxnSpLocks/>
            <a:stCxn id="6" idx="0"/>
            <a:endCxn id="26" idx="0"/>
          </p:cNvCxnSpPr>
          <p:nvPr/>
        </p:nvCxnSpPr>
        <p:spPr>
          <a:xfrm rot="5400000" flipH="1" flipV="1">
            <a:off x="1137092" y="119741"/>
            <a:ext cx="4784" cy="1119628"/>
          </a:xfrm>
          <a:prstGeom prst="curvedConnector3">
            <a:avLst>
              <a:gd name="adj1" fmla="val 487842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FD02D0C-1CBC-97A1-2EE2-B008910156A1}"/>
              </a:ext>
            </a:extLst>
          </p:cNvPr>
          <p:cNvSpPr txBox="1"/>
          <p:nvPr/>
        </p:nvSpPr>
        <p:spPr>
          <a:xfrm>
            <a:off x="841385" y="83534"/>
            <a:ext cx="606481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D65CE7-A59D-8A36-21D1-011F25601471}"/>
              </a:ext>
            </a:extLst>
          </p:cNvPr>
          <p:cNvSpPr/>
          <p:nvPr/>
        </p:nvSpPr>
        <p:spPr>
          <a:xfrm>
            <a:off x="1156875" y="677166"/>
            <a:ext cx="1084851" cy="1199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E4DD0A-7EAE-9C7E-A266-EBA9D142F0A2}"/>
              </a:ext>
            </a:extLst>
          </p:cNvPr>
          <p:cNvSpPr/>
          <p:nvPr/>
        </p:nvSpPr>
        <p:spPr>
          <a:xfrm>
            <a:off x="2283448" y="677166"/>
            <a:ext cx="1084851" cy="1199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27F462-EA3E-AF4A-AC87-E969540B7A1A}"/>
              </a:ext>
            </a:extLst>
          </p:cNvPr>
          <p:cNvSpPr/>
          <p:nvPr/>
        </p:nvSpPr>
        <p:spPr>
          <a:xfrm>
            <a:off x="3410022" y="677166"/>
            <a:ext cx="1084851" cy="1199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B3DB27-54D6-7FC3-C28F-A2B2666D6293}"/>
              </a:ext>
            </a:extLst>
          </p:cNvPr>
          <p:cNvSpPr/>
          <p:nvPr/>
        </p:nvSpPr>
        <p:spPr>
          <a:xfrm>
            <a:off x="4534213" y="677166"/>
            <a:ext cx="1084851" cy="1199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2B52B1-76AC-91A5-A608-368CA76A10DF}"/>
              </a:ext>
            </a:extLst>
          </p:cNvPr>
          <p:cNvSpPr/>
          <p:nvPr/>
        </p:nvSpPr>
        <p:spPr>
          <a:xfrm>
            <a:off x="5671004" y="677165"/>
            <a:ext cx="1084851" cy="119443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8D0C9C-80A1-9E65-5397-84B972DC1EDF}"/>
              </a:ext>
            </a:extLst>
          </p:cNvPr>
          <p:cNvSpPr txBox="1"/>
          <p:nvPr/>
        </p:nvSpPr>
        <p:spPr>
          <a:xfrm>
            <a:off x="1437288" y="1731512"/>
            <a:ext cx="530964" cy="24622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RQ1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18C76D2C-555D-7FA5-18F7-76CA62CFC65B}"/>
              </a:ext>
            </a:extLst>
          </p:cNvPr>
          <p:cNvCxnSpPr>
            <a:cxnSpLocks/>
            <a:stCxn id="8" idx="0"/>
            <a:endCxn id="27" idx="0"/>
          </p:cNvCxnSpPr>
          <p:nvPr/>
        </p:nvCxnSpPr>
        <p:spPr>
          <a:xfrm rot="5400000" flipH="1" flipV="1">
            <a:off x="2197629" y="182306"/>
            <a:ext cx="133382" cy="1123101"/>
          </a:xfrm>
          <a:prstGeom prst="curvedConnector3">
            <a:avLst>
              <a:gd name="adj1" fmla="val 27138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30F50C1-6417-483B-B471-BE3F0497455D}"/>
              </a:ext>
            </a:extLst>
          </p:cNvPr>
          <p:cNvSpPr txBox="1"/>
          <p:nvPr/>
        </p:nvSpPr>
        <p:spPr>
          <a:xfrm>
            <a:off x="2003380" y="85099"/>
            <a:ext cx="606481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Forks</a:t>
            </a:r>
          </a:p>
        </p:txBody>
      </p: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F6EA8524-DB3C-453E-AB8F-DFA8F057337B}"/>
              </a:ext>
            </a:extLst>
          </p:cNvPr>
          <p:cNvCxnSpPr>
            <a:cxnSpLocks/>
            <a:stCxn id="11" idx="0"/>
            <a:endCxn id="28" idx="0"/>
          </p:cNvCxnSpPr>
          <p:nvPr/>
        </p:nvCxnSpPr>
        <p:spPr>
          <a:xfrm rot="5400000" flipH="1" flipV="1">
            <a:off x="3313568" y="191752"/>
            <a:ext cx="153469" cy="1124292"/>
          </a:xfrm>
          <a:prstGeom prst="curvedConnector3">
            <a:avLst>
              <a:gd name="adj1" fmla="val 24895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431D232-C2EA-35CA-E792-97F098FF565B}"/>
              </a:ext>
            </a:extLst>
          </p:cNvPr>
          <p:cNvSpPr txBox="1"/>
          <p:nvPr/>
        </p:nvSpPr>
        <p:spPr>
          <a:xfrm>
            <a:off x="3153126" y="106242"/>
            <a:ext cx="606481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Issues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35F547-1EC3-82B5-02D1-0132F47039F2}"/>
              </a:ext>
            </a:extLst>
          </p:cNvPr>
          <p:cNvSpPr txBox="1"/>
          <p:nvPr/>
        </p:nvSpPr>
        <p:spPr>
          <a:xfrm>
            <a:off x="2565705" y="1731512"/>
            <a:ext cx="530964" cy="24622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675001-866D-6298-A036-0246578D9B88}"/>
              </a:ext>
            </a:extLst>
          </p:cNvPr>
          <p:cNvSpPr txBox="1"/>
          <p:nvPr/>
        </p:nvSpPr>
        <p:spPr>
          <a:xfrm>
            <a:off x="3686962" y="1739239"/>
            <a:ext cx="530964" cy="24622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RQ3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4D43ABF2-FCF5-972C-8A7D-4F10B58D0683}"/>
              </a:ext>
            </a:extLst>
          </p:cNvPr>
          <p:cNvCxnSpPr>
            <a:cxnSpLocks/>
            <a:stCxn id="8" idx="0"/>
            <a:endCxn id="16" idx="0"/>
          </p:cNvCxnSpPr>
          <p:nvPr/>
        </p:nvCxnSpPr>
        <p:spPr>
          <a:xfrm rot="16200000" flipH="1">
            <a:off x="3311605" y="-798286"/>
            <a:ext cx="147703" cy="3365368"/>
          </a:xfrm>
          <a:prstGeom prst="bentConnector3">
            <a:avLst>
              <a:gd name="adj1" fmla="val -154770"/>
            </a:avLst>
          </a:prstGeom>
          <a:ln>
            <a:prstDash val="lgDashDot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5EE84548-30FD-41F8-83E4-593AC8E30320}"/>
              </a:ext>
            </a:extLst>
          </p:cNvPr>
          <p:cNvCxnSpPr>
            <a:cxnSpLocks/>
            <a:stCxn id="16" idx="0"/>
            <a:endCxn id="1026" idx="0"/>
          </p:cNvCxnSpPr>
          <p:nvPr/>
        </p:nvCxnSpPr>
        <p:spPr>
          <a:xfrm rot="5400000" flipH="1" flipV="1">
            <a:off x="5574913" y="313191"/>
            <a:ext cx="138286" cy="1151832"/>
          </a:xfrm>
          <a:prstGeom prst="curvedConnector3">
            <a:avLst>
              <a:gd name="adj1" fmla="val 26531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2FED9CB-5023-9F30-A1B6-672EC76B1486}"/>
              </a:ext>
            </a:extLst>
          </p:cNvPr>
          <p:cNvSpPr txBox="1"/>
          <p:nvPr/>
        </p:nvSpPr>
        <p:spPr>
          <a:xfrm>
            <a:off x="5342451" y="178609"/>
            <a:ext cx="657106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</a:p>
        </p:txBody>
      </p: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A90CAA1B-D0A9-8AA4-50F1-70304F530E16}"/>
              </a:ext>
            </a:extLst>
          </p:cNvPr>
          <p:cNvCxnSpPr>
            <a:cxnSpLocks/>
            <a:stCxn id="1026" idx="2"/>
            <a:endCxn id="13" idx="0"/>
          </p:cNvCxnSpPr>
          <p:nvPr/>
        </p:nvCxnSpPr>
        <p:spPr>
          <a:xfrm rot="5400000">
            <a:off x="6107149" y="1240956"/>
            <a:ext cx="222188" cy="34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0" name="TextBox 1029">
            <a:extLst>
              <a:ext uri="{FF2B5EF4-FFF2-40B4-BE49-F238E27FC236}">
                <a16:creationId xmlns:a16="http://schemas.microsoft.com/office/drawing/2014/main" id="{35525165-1A87-5102-77EE-E8CBCBF7C896}"/>
              </a:ext>
            </a:extLst>
          </p:cNvPr>
          <p:cNvSpPr txBox="1"/>
          <p:nvPr/>
        </p:nvSpPr>
        <p:spPr>
          <a:xfrm>
            <a:off x="5936481" y="1739239"/>
            <a:ext cx="530964" cy="24622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95D26F-980A-B5D7-EC69-85B95E2B2D8C}"/>
              </a:ext>
            </a:extLst>
          </p:cNvPr>
          <p:cNvSpPr txBox="1"/>
          <p:nvPr/>
        </p:nvSpPr>
        <p:spPr>
          <a:xfrm>
            <a:off x="1112629" y="2000477"/>
            <a:ext cx="1176131" cy="861774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Analysis of 187 tools (140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CycloneDx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+ 47 SPDX).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DC5469-CE63-9729-B2B9-52058FE1A3CA}"/>
              </a:ext>
            </a:extLst>
          </p:cNvPr>
          <p:cNvSpPr txBox="1"/>
          <p:nvPr/>
        </p:nvSpPr>
        <p:spPr>
          <a:xfrm>
            <a:off x="2264321" y="1991632"/>
            <a:ext cx="1176131" cy="861774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Analysis of 641 tools (171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CycloneDx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+ 470 SPDX).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8877BE-A78A-57DE-DDE3-1768C2497AC9}"/>
              </a:ext>
            </a:extLst>
          </p:cNvPr>
          <p:cNvSpPr txBox="1"/>
          <p:nvPr/>
        </p:nvSpPr>
        <p:spPr>
          <a:xfrm>
            <a:off x="3420650" y="1986266"/>
            <a:ext cx="1176131" cy="861774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Analysis of 17,795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CycloneDx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19,195 SPDX tool-issues.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579FB8-7BAA-B7E1-F605-FF7E6B71FC2F}"/>
              </a:ext>
            </a:extLst>
          </p:cNvPr>
          <p:cNvSpPr txBox="1"/>
          <p:nvPr/>
        </p:nvSpPr>
        <p:spPr>
          <a:xfrm>
            <a:off x="5489268" y="1979788"/>
            <a:ext cx="1415060" cy="861774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Analysis of Top-200 projects that use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CycloneDx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.vs. Top-200 that use SPDX tools.</a:t>
            </a:r>
          </a:p>
        </p:txBody>
      </p:sp>
    </p:spTree>
    <p:extLst>
      <p:ext uri="{BB962C8B-B14F-4D97-AF65-F5344CB8AC3E}">
        <p14:creationId xmlns:p14="http://schemas.microsoft.com/office/powerpoint/2010/main" val="2680110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</TotalTime>
  <Words>90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Ali Bangash</dc:creator>
  <cp:lastModifiedBy>Zhimin Zhao</cp:lastModifiedBy>
  <cp:revision>13</cp:revision>
  <dcterms:created xsi:type="dcterms:W3CDTF">2024-03-19T19:20:02Z</dcterms:created>
  <dcterms:modified xsi:type="dcterms:W3CDTF">2025-05-30T03:19:11Z</dcterms:modified>
</cp:coreProperties>
</file>